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  <p:sldId id="269" r:id="rId23"/>
    <p:sldId id="264" r:id="rId18"/>
    <p:sldId id="265" r:id="rId19"/>
    <p:sldId id="266" r:id="rId20"/>
    <p:sldId id="267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5"/>
    <p:restoredTop sz="95915"/>
  </p:normalViewPr>
  <p:slideViewPr>
    <p:cSldViewPr snapToGrid="0" snapToObjects="1">
      <p:cViewPr varScale="1">
        <p:scale>
          <a:sx n="114" d="100"/>
          <a:sy n="114" d="100"/>
        </p:scale>
        <p:origin x="7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7A471-3BC9-7144-896D-35D27501F867}" type="datetimeFigureOut">
              <a:rPr lang="en-US" smtClean="0"/>
              <a:t>1/26/23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2D817-624A-3844-ADA7-10031BF8A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69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positioning this as a repeatable product knowledge workflow, not simply a documentation cleanup.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was not that nobody knew the product. The problem was that the knowledge was not organized for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repeatable method we can apply to the next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disciplined confidence: we improved the draft but did not claim full engineering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show taxonomy discipline and why the evidence pages are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pages are the bridge between product documentation and practical intake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distinction between published draft-status pages and personal unpublished drafts.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should feel like product documentation becoming a controlled knowledge source, not a loose chatbot data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recipe leadership can sponsor.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is why this can be used in a leadership demo without overclaiming.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the value directly to BA load, intake quality, estimation confidence, and delivery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asking for validation and permission to repeat the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handoff context for app testing and future product documentation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9A0D2A-57DF-E44A-A371-2450D2CA77CF}"/>
              </a:ext>
            </a:extLst>
          </p:cNvPr>
          <p:cNvSpPr txBox="1">
            <a:spLocks/>
          </p:cNvSpPr>
          <p:nvPr userDrawn="1"/>
        </p:nvSpPr>
        <p:spPr>
          <a:xfrm>
            <a:off x="547962" y="3041584"/>
            <a:ext cx="4784434" cy="2464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00" b="0" i="0" kern="1200">
                <a:solidFill>
                  <a:schemeClr val="tx1"/>
                </a:solidFill>
                <a:latin typeface="Igna Sans Medium It" pitchFamily="2" charset="77"/>
                <a:ea typeface="+mj-ea"/>
                <a:cs typeface="+mj-cs"/>
              </a:defRPr>
            </a:lvl1pPr>
          </a:lstStyle>
          <a:p>
            <a:endParaRPr lang="en-US" sz="2000" b="0" i="0">
              <a:latin typeface="Museo Sans 300" panose="02000000000000000000" pitchFamily="2" charset="7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21898C-DAFF-3840-9140-7411E7BC2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4432" y="2457860"/>
            <a:ext cx="8663135" cy="1816223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49136-A851-FA48-979A-2D72ADE531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7962" y="501787"/>
            <a:ext cx="3542257" cy="60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61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ckground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D27F-9B74-644D-9F06-D6BFFF5FA7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5831" y="707901"/>
            <a:ext cx="7385538" cy="1816223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Join Our Team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81AD0-D566-CB4D-B66D-81E89F00C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831" y="3083168"/>
            <a:ext cx="7385538" cy="240323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67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le &amp; Text above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1085-A1C6-5D42-9298-73B426FF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335130"/>
            <a:ext cx="11090726" cy="539014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AA6AF-3D4F-2D41-957D-E4305D3E6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2588" y="2598821"/>
            <a:ext cx="11446860" cy="41292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2D345-69D5-254D-8609-2C678DFD25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82588" y="1097280"/>
            <a:ext cx="11446860" cy="131866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17191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le &amp; Text Left - Image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1085-A1C6-5D42-9298-73B426FF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335130"/>
            <a:ext cx="5245768" cy="1318660"/>
          </a:xfrm>
        </p:spPr>
        <p:txBody>
          <a:bodyPr anchor="b">
            <a:no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AA6AF-3D4F-2D41-957D-E4305D3E6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83680" y="335131"/>
            <a:ext cx="5245768" cy="62485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2D345-69D5-254D-8609-2C678DFD25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82587" y="1799924"/>
            <a:ext cx="5225733" cy="4783756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51403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le &amp; Image Left - Text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1085-A1C6-5D42-9298-73B426FF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335130"/>
            <a:ext cx="5245768" cy="1318660"/>
          </a:xfrm>
        </p:spPr>
        <p:txBody>
          <a:bodyPr anchor="b">
            <a:no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AA6AF-3D4F-2D41-957D-E4305D3E6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2588" y="1799924"/>
            <a:ext cx="5245768" cy="4783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2D345-69D5-254D-8609-2C678DFD25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3646" y="335131"/>
            <a:ext cx="5225733" cy="62485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98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46EF389-8EC2-7D4B-B874-2DCEB8283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4091" y="489188"/>
            <a:ext cx="8613974" cy="1816223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4476EB-19AB-4F44-8717-FD7415B7E247}"/>
              </a:ext>
            </a:extLst>
          </p:cNvPr>
          <p:cNvSpPr txBox="1"/>
          <p:nvPr userDrawn="1"/>
        </p:nvSpPr>
        <p:spPr>
          <a:xfrm>
            <a:off x="3423424" y="5475249"/>
            <a:ext cx="0" cy="0"/>
          </a:xfrm>
          <a:prstGeom prst="rect">
            <a:avLst/>
          </a:prstGeom>
        </p:spPr>
        <p:txBody>
          <a:bodyPr wrap="none" rtlCol="0">
            <a:normAutofit fontScale="2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86FA5-513F-2246-A99B-32D948F091FB}"/>
              </a:ext>
            </a:extLst>
          </p:cNvPr>
          <p:cNvSpPr txBox="1"/>
          <p:nvPr userDrawn="1"/>
        </p:nvSpPr>
        <p:spPr>
          <a:xfrm>
            <a:off x="7805854" y="3802566"/>
            <a:ext cx="0" cy="0"/>
          </a:xfrm>
          <a:prstGeom prst="rect">
            <a:avLst/>
          </a:prstGeom>
        </p:spPr>
        <p:txBody>
          <a:bodyPr wrap="none" rtlCol="0">
            <a:normAutofit fontScale="2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636FE-A253-D145-B37D-1F223CBEFB15}"/>
              </a:ext>
            </a:extLst>
          </p:cNvPr>
          <p:cNvSpPr txBox="1"/>
          <p:nvPr userDrawn="1"/>
        </p:nvSpPr>
        <p:spPr>
          <a:xfrm>
            <a:off x="3599848" y="4803006"/>
            <a:ext cx="0" cy="0"/>
          </a:xfrm>
          <a:prstGeom prst="rect">
            <a:avLst/>
          </a:prstGeom>
        </p:spPr>
        <p:txBody>
          <a:bodyPr wrap="none" rtlCol="0">
            <a:normAutofit fontScale="2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9B4EF-1F25-6748-A298-852096D08BC2}"/>
              </a:ext>
            </a:extLst>
          </p:cNvPr>
          <p:cNvSpPr txBox="1"/>
          <p:nvPr userDrawn="1"/>
        </p:nvSpPr>
        <p:spPr>
          <a:xfrm>
            <a:off x="4013735" y="4754880"/>
            <a:ext cx="0" cy="0"/>
          </a:xfrm>
          <a:prstGeom prst="rect">
            <a:avLst/>
          </a:prstGeom>
        </p:spPr>
        <p:txBody>
          <a:bodyPr wrap="none" rtlCol="0">
            <a:normAutofit fontScale="2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343085-0EE7-C642-8672-B2DA8E0EF3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11010" y="6017683"/>
            <a:ext cx="2784728" cy="47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599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820F0E-D71B-294C-BF21-4F15C8BFE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2D91E-F303-6D42-93A7-0A264AFC9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CEF78-9278-0E4E-BCCF-2E6E302F7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ACDFBBD1-029F-CF4A-B19B-0B0873265901}" type="datetimeFigureOut">
              <a:rPr lang="en-US" smtClean="0"/>
              <a:pPr/>
              <a:t>1/26/23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471EE-DD3D-894C-8DD1-665614D17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A389C-03A8-3645-B2C9-6713E6E43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CCE83FBA-E151-4548-B032-AD5A189E5A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2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4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21792"/>
            <a:ext cx="3154680" cy="5418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1335024"/>
            <a:ext cx="768096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293436"/>
                </a:solidFill>
                <a:latin typeface="Roboto"/>
              </a:rPr>
              <a:t>Newleaf Documentation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93392"/>
            <a:ext cx="7955279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50" b="0">
                <a:solidFill>
                  <a:srgbClr val="737A7B"/>
                </a:solidFill>
                <a:latin typeface="Roboto"/>
              </a:rPr>
              <a:t>From fragmented system knowledge to queryable product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06624"/>
            <a:ext cx="178308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3767328"/>
            <a:ext cx="8138160" cy="1152144"/>
          </a:xfrm>
          <a:prstGeom prst="roundRect">
            <a:avLst/>
          </a:prstGeom>
          <a:solidFill>
            <a:srgbClr val="E8F7FE"/>
          </a:solidFill>
          <a:ln>
            <a:solidFill>
              <a:srgbClr val="D7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/>
          <a:lstStyle/>
          <a:p>
            <a:pPr algn="ctr"/>
            <a:r>
              <a:rPr sz="1500" b="0">
                <a:solidFill>
                  <a:srgbClr val="293436"/>
                </a:solidFill>
                <a:latin typeface="Roboto"/>
              </a:rPr>
              <a:t>Leadership demo | PD1 Product Documentation | Newleaf Horizon source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newleaf documentation method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The problem was fragmented product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Newleaf had real knowledge, but it lived across too many systems and levels of detail.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154680" cy="3520440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315468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36776"/>
            <a:ext cx="2788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Scattered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20824"/>
            <a:ext cx="2788920" cy="2807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Product Development pages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Implementation and access notes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Repo structure and code signals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Reports, labels, deployment, and store assets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154680" cy="3520440"/>
          </a:xfrm>
          <a:prstGeom prst="roundRect">
            <a:avLst/>
          </a:prstGeom>
          <a:solidFill>
            <a:srgbClr val="FFF4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3154680" cy="73152"/>
          </a:xfrm>
          <a:prstGeom prst="rect">
            <a:avLst/>
          </a:prstGeom>
          <a:solidFill>
            <a:srgbClr val="FF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36776"/>
            <a:ext cx="2788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Operational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20824"/>
            <a:ext cx="2788920" cy="2807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BA effort spent rediscovering known behavior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Harder intake and estimation conversations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Product capability mixed with customer-specific customization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Support and product used different evidence trails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154680" cy="3520440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315468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1636776"/>
            <a:ext cx="2788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Target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020824"/>
            <a:ext cx="2788920" cy="2807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Product-facing capability map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Known boundaries and limitations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Owner-reviewable draft baseline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Queryable source set for intake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newleaf documentation method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The recipe: Confluence as map, code as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Targeted evidence gave us confidence without forcing a full-code read.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658368" cy="841248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1</a:t>
            </a:r>
          </a:p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658368" cy="64008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395728"/>
            <a:ext cx="2542032" cy="2029968"/>
          </a:xfrm>
          <a:prstGeom prst="roundRect">
            <a:avLst/>
          </a:prstGeom>
          <a:solidFill>
            <a:srgbClr val="F4F6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395728"/>
            <a:ext cx="2542032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15184"/>
            <a:ext cx="217627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Mine existing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99232"/>
            <a:ext cx="2176272" cy="13167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60" b="0">
                <a:solidFill>
                  <a:srgbClr val="293436"/>
                </a:solidFill>
                <a:latin typeface="Roboto"/>
              </a:rPr>
              <a:t>Find product, implementation, access, and CIAM references.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37560" y="1920240"/>
            <a:ext cx="292608" cy="0"/>
          </a:xfrm>
          <a:prstGeom prst="line">
            <a:avLst/>
          </a:prstGeom>
          <a:ln w="19050">
            <a:solidFill>
              <a:srgbClr val="D7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02152" y="1572768"/>
            <a:ext cx="658368" cy="841248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2</a:t>
            </a:r>
          </a:p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2152" y="1572768"/>
            <a:ext cx="658368" cy="64008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02152" y="2395728"/>
            <a:ext cx="2542032" cy="2029968"/>
          </a:xfrm>
          <a:prstGeom prst="roundRect">
            <a:avLst/>
          </a:prstGeom>
          <a:solidFill>
            <a:srgbClr val="F4F6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02152" y="2395728"/>
            <a:ext cx="2542032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615184"/>
            <a:ext cx="217627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Target repo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2999232"/>
            <a:ext cx="2176272" cy="13167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60" b="0">
                <a:solidFill>
                  <a:srgbClr val="293436"/>
                </a:solidFill>
                <a:latin typeface="Roboto"/>
              </a:rPr>
              <a:t>Inspect names, paths, controllers, services, reports, and workloads.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53912" y="1920240"/>
            <a:ext cx="292608" cy="0"/>
          </a:xfrm>
          <a:prstGeom prst="line">
            <a:avLst/>
          </a:prstGeom>
          <a:ln w="19050">
            <a:solidFill>
              <a:srgbClr val="D7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18504" y="1572768"/>
            <a:ext cx="658368" cy="841248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3</a:t>
            </a:r>
          </a:p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8504" y="1572768"/>
            <a:ext cx="658368" cy="64008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18504" y="2395728"/>
            <a:ext cx="2542032" cy="2029968"/>
          </a:xfrm>
          <a:prstGeom prst="roundRect">
            <a:avLst/>
          </a:prstGeom>
          <a:solidFill>
            <a:srgbClr val="F4F6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8504" y="2395728"/>
            <a:ext cx="2542032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2615184"/>
            <a:ext cx="217627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Curate product pages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2999232"/>
            <a:ext cx="2176272" cy="13167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60" b="0">
                <a:solidFill>
                  <a:srgbClr val="293436"/>
                </a:solidFill>
                <a:latin typeface="Roboto"/>
              </a:rPr>
              <a:t>Translate evidence into product-facing capability and boundary docs.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70264" y="1920240"/>
            <a:ext cx="292608" cy="0"/>
          </a:xfrm>
          <a:prstGeom prst="line">
            <a:avLst/>
          </a:prstGeom>
          <a:ln w="19050">
            <a:solidFill>
              <a:srgbClr val="D7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34856" y="1572768"/>
            <a:ext cx="658368" cy="841248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4</a:t>
            </a:r>
          </a:p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34856" y="1572768"/>
            <a:ext cx="658368" cy="64008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34856" y="2395728"/>
            <a:ext cx="2542032" cy="2029968"/>
          </a:xfrm>
          <a:prstGeom prst="roundRect">
            <a:avLst/>
          </a:prstGeom>
          <a:solidFill>
            <a:srgbClr val="F4F6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34856" y="2395728"/>
            <a:ext cx="2542032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7736" y="2615184"/>
            <a:ext cx="217627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Publish safely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2999232"/>
            <a:ext cx="2176272" cy="13167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60" b="0">
                <a:solidFill>
                  <a:srgbClr val="293436"/>
                </a:solidFill>
                <a:latin typeface="Roboto"/>
              </a:rPr>
              <a:t>Create draft-status pages with reviewer evidence and owner-review gaps.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4882896"/>
            <a:ext cx="10195560" cy="768096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120" y="4882896"/>
            <a:ext cx="1019556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5102352"/>
            <a:ext cx="9829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Core principle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486400"/>
            <a:ext cx="9829800" cy="5486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19" b="0">
                <a:solidFill>
                  <a:srgbClr val="293436"/>
                </a:solidFill>
                <a:latin typeface="Roboto"/>
              </a:rPr>
              <a:t>Use existing documentation to reduce the search space, then use source evidence to strengthen the product narrative.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newleaf documentation method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A compact validation pass strengthened the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The numbers show breadth, while the owner-review gaps prevent overclaiming.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2057400" cy="841248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21</a:t>
            </a:r>
          </a:p>
          <a:p>
            <a:pPr algn="ctr"/>
            <a:r>
              <a:rPr sz="869" b="0">
                <a:solidFill>
                  <a:srgbClr val="737A7B"/>
                </a:solidFill>
                <a:latin typeface="Roboto"/>
              </a:rPr>
              <a:t>legacy API controller entries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44752"/>
            <a:ext cx="2057400" cy="64008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52928" y="1444752"/>
            <a:ext cx="2057400" cy="841248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179</a:t>
            </a:r>
          </a:p>
          <a:p>
            <a:pPr algn="ctr"/>
            <a:r>
              <a:rPr sz="869" b="0">
                <a:solidFill>
                  <a:srgbClr val="737A7B"/>
                </a:solidFill>
                <a:latin typeface="Roboto"/>
              </a:rPr>
              <a:t>proto service entries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2928" y="1444752"/>
            <a:ext cx="2057400" cy="64008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11496" y="1444752"/>
            <a:ext cx="2057400" cy="841248"/>
          </a:xfrm>
          <a:prstGeom prst="roundRect">
            <a:avLst/>
          </a:prstGeom>
          <a:solidFill>
            <a:srgbClr val="FFF4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502</a:t>
            </a:r>
          </a:p>
          <a:p>
            <a:pPr algn="ctr"/>
            <a:r>
              <a:rPr sz="869" b="0">
                <a:solidFill>
                  <a:srgbClr val="737A7B"/>
                </a:solidFill>
                <a:latin typeface="Roboto"/>
              </a:rPr>
              <a:t>top-level report entries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11496" y="1444752"/>
            <a:ext cx="2057400" cy="64008"/>
          </a:xfrm>
          <a:prstGeom prst="rect">
            <a:avLst/>
          </a:prstGeom>
          <a:solidFill>
            <a:srgbClr val="FF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70064" y="1444752"/>
            <a:ext cx="2057400" cy="841248"/>
          </a:xfrm>
          <a:prstGeom prst="roundRect">
            <a:avLst/>
          </a:prstGeom>
          <a:solidFill>
            <a:srgbClr val="F2EB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109</a:t>
            </a:r>
          </a:p>
          <a:p>
            <a:pPr algn="ctr"/>
            <a:r>
              <a:rPr sz="869" b="0">
                <a:solidFill>
                  <a:srgbClr val="737A7B"/>
                </a:solidFill>
                <a:latin typeface="Roboto"/>
              </a:rPr>
              <a:t>store customization entries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444752"/>
            <a:ext cx="2057400" cy="64008"/>
          </a:xfrm>
          <a:prstGeom prst="rect">
            <a:avLst/>
          </a:prstGeom>
          <a:solidFill>
            <a:srgbClr val="6C0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28632" y="1444752"/>
            <a:ext cx="2057400" cy="841248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15</a:t>
            </a:r>
          </a:p>
          <a:p>
            <a:pPr algn="ctr"/>
            <a:r>
              <a:rPr sz="869" b="0">
                <a:solidFill>
                  <a:srgbClr val="737A7B"/>
                </a:solidFill>
                <a:latin typeface="Roboto"/>
              </a:rPr>
              <a:t>SaaS workload entries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28632" y="1444752"/>
            <a:ext cx="2057400" cy="64008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017520"/>
            <a:ext cx="5074920" cy="1993392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017520"/>
            <a:ext cx="507492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236976"/>
            <a:ext cx="470915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Confidence increased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621024"/>
            <a:ext cx="470915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Capability catalog and integration boundaries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Reporting, PMP/state, and specialty report boundaries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Configuration versus customization model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Deployment topology and support triage structure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017520"/>
            <a:ext cx="5074920" cy="1993392"/>
          </a:xfrm>
          <a:prstGeom prst="roundRect">
            <a:avLst/>
          </a:prstGeom>
          <a:solidFill>
            <a:srgbClr val="FFF4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017520"/>
            <a:ext cx="5074920" cy="73152"/>
          </a:xfrm>
          <a:prstGeom prst="rect">
            <a:avLst/>
          </a:prstGeom>
          <a:solidFill>
            <a:srgbClr val="FF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236976"/>
            <a:ext cx="470915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Owner review remains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21024"/>
            <a:ext cx="470915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Active production integrations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Report ownership and access rules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Pharmacy-type capability precision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Environment-by-environment deployment truth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newleaf documentation method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The Confluence structure separates product pages from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The Product Documentation tree is useful to people and queryable by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1088136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508760"/>
          <a:ext cx="1088136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9723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19" b="1">
                          <a:solidFill>
                            <a:srgbClr val="293436"/>
                          </a:solidFill>
                          <a:latin typeface="Roboto"/>
                        </a:rPr>
                        <a:t>Layer</a:t>
                      </a:r>
                    </a:p>
                  </a:txBody>
                  <a:tcPr marL="73152" marR="73152" marT="36576" marB="36576">
                    <a:solidFill>
                      <a:srgbClr val="E8F7F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19" b="1">
                          <a:solidFill>
                            <a:srgbClr val="293436"/>
                          </a:solidFill>
                          <a:latin typeface="Roboto"/>
                        </a:rPr>
                        <a:t>Purpose</a:t>
                      </a:r>
                    </a:p>
                  </a:txBody>
                  <a:tcPr marL="73152" marR="73152" marT="36576" marB="36576">
                    <a:solidFill>
                      <a:srgbClr val="E8F7F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19" b="1">
                          <a:solidFill>
                            <a:srgbClr val="293436"/>
                          </a:solidFill>
                          <a:latin typeface="Roboto"/>
                        </a:rPr>
                        <a:t>Examples</a:t>
                      </a:r>
                    </a:p>
                  </a:txBody>
                  <a:tcPr marL="73152" marR="73152" marT="36576" marB="36576">
                    <a:solidFill>
                      <a:srgbClr val="E8F7FE"/>
                    </a:solidFill>
                  </a:tcPr>
                </a:tc>
              </a:tr>
              <a:tr h="697230">
                <a:tc>
                  <a:txBody>
                    <a:bodyPr wrap="square" anchor="ctr"/>
                    <a:lstStyle/>
                    <a:p>
                      <a:pPr algn="l"/>
                      <a:r>
                        <a:rPr sz="880" b="1">
                          <a:solidFill>
                            <a:srgbClr val="293436"/>
                          </a:solidFill>
                          <a:latin typeface="Roboto"/>
                        </a:rPr>
                        <a:t>Product pages</a:t>
                      </a:r>
                    </a:p>
                  </a:txBody>
                  <a:tcPr marL="73152" marR="73152" marT="36576" marB="36576">
                    <a:solidFill>
                      <a:srgbClr val="F4F6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80" b="0">
                          <a:solidFill>
                            <a:srgbClr val="293436"/>
                          </a:solidFill>
                          <a:latin typeface="Roboto"/>
                        </a:rPr>
                        <a:t>Explain durable Newleaf capability and boundaries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80" b="0">
                          <a:solidFill>
                            <a:srgbClr val="293436"/>
                          </a:solidFill>
                          <a:latin typeface="Roboto"/>
                        </a:rPr>
                        <a:t>Overview, capability catalog, functional areas, integration boundaries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 wrap="square" anchor="ctr"/>
                    <a:lstStyle/>
                    <a:p>
                      <a:pPr algn="l"/>
                      <a:r>
                        <a:rPr sz="880" b="1">
                          <a:solidFill>
                            <a:srgbClr val="293436"/>
                          </a:solidFill>
                          <a:latin typeface="Roboto"/>
                        </a:rPr>
                        <a:t>Intake pages</a:t>
                      </a:r>
                    </a:p>
                  </a:txBody>
                  <a:tcPr marL="73152" marR="73152" marT="36576" marB="36576">
                    <a:solidFill>
                      <a:srgbClr val="F4F6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80" b="0">
                          <a:solidFill>
                            <a:srgbClr val="293436"/>
                          </a:solidFill>
                          <a:latin typeface="Roboto"/>
                        </a:rPr>
                        <a:t>Classify requests before deep discovery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80" b="0">
                          <a:solidFill>
                            <a:srgbClr val="293436"/>
                          </a:solidFill>
                          <a:latin typeface="Roboto"/>
                        </a:rPr>
                        <a:t>Request patterns, configuration boundary, reporting boundary, dependency map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 wrap="square" anchor="ctr"/>
                    <a:lstStyle/>
                    <a:p>
                      <a:pPr algn="l"/>
                      <a:r>
                        <a:rPr sz="880" b="1">
                          <a:solidFill>
                            <a:srgbClr val="293436"/>
                          </a:solidFill>
                          <a:latin typeface="Roboto"/>
                        </a:rPr>
                        <a:t>Reviewer evidence</a:t>
                      </a:r>
                    </a:p>
                  </a:txBody>
                  <a:tcPr marL="73152" marR="73152" marT="36576" marB="36576">
                    <a:solidFill>
                      <a:srgbClr val="F4F6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80" b="0">
                          <a:solidFill>
                            <a:srgbClr val="293436"/>
                          </a:solidFill>
                          <a:latin typeface="Roboto"/>
                        </a:rPr>
                        <a:t>Preserve uncertainty and source traceability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80" b="0">
                          <a:solidFill>
                            <a:srgbClr val="293436"/>
                          </a:solidFill>
                          <a:latin typeface="Roboto"/>
                        </a:rPr>
                        <a:t>Source inventory, validation addendum, known documentation gaps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4617720"/>
            <a:ext cx="4754880" cy="1078992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617720"/>
            <a:ext cx="475488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37176"/>
            <a:ext cx="43891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Published 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221224"/>
            <a:ext cx="4389120" cy="3657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PD1 Product Documentation &gt; Newleaf Horizon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617720"/>
            <a:ext cx="4754880" cy="1078992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4617720"/>
            <a:ext cx="475488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837176"/>
            <a:ext cx="43891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Review posture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5221224"/>
            <a:ext cx="4389120" cy="3657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Draft product documentation baseline, owner review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newleaf documentation method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The highest-value pages are intake accelerators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They turn product knowledge into reusable request classification and scope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246120" cy="3886200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324612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91056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Request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75104"/>
            <a:ext cx="2880360" cy="31729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Reports, labels, store setup, integrations, auth, deployment, workflow, and patient engagement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Early S/M/L/XL complexity signals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Required intake fields before estimation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371600"/>
            <a:ext cx="3246120" cy="3886200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371600"/>
            <a:ext cx="324612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591056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Boundary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975104"/>
            <a:ext cx="2880360" cy="31729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Standard capability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Configuration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Customer/store customization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Integration enablement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Product enhancement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Support or operations task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71600"/>
            <a:ext cx="3246120" cy="3886200"/>
          </a:xfrm>
          <a:prstGeom prst="roundRect">
            <a:avLst/>
          </a:prstGeom>
          <a:solidFill>
            <a:srgbClr val="FFF4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371600"/>
            <a:ext cx="3246120" cy="73152"/>
          </a:xfrm>
          <a:prstGeom prst="rect">
            <a:avLst/>
          </a:prstGeom>
          <a:solidFill>
            <a:srgbClr val="FF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591056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Risk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975104"/>
            <a:ext cx="2880360" cy="31729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PHI and compliance sensitivity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Restricted reporting and access control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External vendor dependency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Deployment model and runtime dependency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newleaf documentation method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Publishing made the draft queryable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The right state is published draft-status pages, not unpublished Atlassian drafts.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44752"/>
            <a:ext cx="2331720" cy="841248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PD1</a:t>
            </a:r>
          </a:p>
          <a:p>
            <a:pPr algn="ctr"/>
            <a:r>
              <a:rPr sz="869" b="0">
                <a:solidFill>
                  <a:srgbClr val="737A7B"/>
                </a:solidFill>
                <a:latin typeface="Roboto"/>
              </a:rPr>
              <a:t>Product Documentation 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2331720" cy="64008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1444752"/>
            <a:ext cx="2743200" cy="841248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1719894128</a:t>
            </a:r>
          </a:p>
          <a:p>
            <a:pPr algn="ctr"/>
            <a:r>
              <a:rPr sz="869" b="0">
                <a:solidFill>
                  <a:srgbClr val="737A7B"/>
                </a:solidFill>
                <a:latin typeface="Roboto"/>
              </a:rPr>
              <a:t>Newleaf Horizon root 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444752"/>
            <a:ext cx="2743200" cy="64008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444752"/>
            <a:ext cx="2880360" cy="841248"/>
          </a:xfrm>
          <a:prstGeom prst="roundRect">
            <a:avLst/>
          </a:prstGeom>
          <a:solidFill>
            <a:srgbClr val="FFF4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4 labels</a:t>
            </a:r>
          </a:p>
          <a:p>
            <a:pPr algn="ctr"/>
            <a:r>
              <a:rPr sz="869" b="0">
                <a:solidFill>
                  <a:srgbClr val="737A7B"/>
                </a:solidFill>
                <a:latin typeface="Roboto"/>
              </a:rPr>
              <a:t>newleaf / product-doc / draft / owner-review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444752"/>
            <a:ext cx="2880360" cy="64008"/>
          </a:xfrm>
          <a:prstGeom prst="rect">
            <a:avLst/>
          </a:prstGeom>
          <a:solidFill>
            <a:srgbClr val="FF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907792"/>
            <a:ext cx="4983480" cy="2121408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907792"/>
            <a:ext cx="498348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27248"/>
            <a:ext cx="46177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Why tools can use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11296"/>
            <a:ext cx="4617720" cy="14081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Confluence API and MCP retrieval can target a stable root page.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Labels narrow queries to the product documentation source set.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Draft status remains explicit while content is reviewed.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907792"/>
            <a:ext cx="4983480" cy="2121408"/>
          </a:xfrm>
          <a:prstGeom prst="roundRect">
            <a:avLst/>
          </a:prstGeom>
          <a:solidFill>
            <a:srgbClr val="FFF4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907792"/>
            <a:ext cx="4983480" cy="73152"/>
          </a:xfrm>
          <a:prstGeom prst="rect">
            <a:avLst/>
          </a:prstGeom>
          <a:solidFill>
            <a:srgbClr val="FF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127248"/>
            <a:ext cx="46177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Guardrails preserved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11296"/>
            <a:ext cx="4617720" cy="14081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Development pages remain source-only.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Product Documentation holds the curated baseline.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Known gaps stay visible instead of hidden.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newleaf documentation method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The same source set supports SmartReq-style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The implementation can be grounded to Confluence while enforcing safety and source boundaries.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53312"/>
            <a:ext cx="3246120" cy="3977639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53312"/>
            <a:ext cx="324612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72768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Grounding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56816"/>
            <a:ext cx="2880360" cy="32644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Space: PD1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Root: Newleaf Horizon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Page id: 1719894128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Labels: newleaf, product-documentation, draft, owner-review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353312"/>
            <a:ext cx="3246120" cy="3977639"/>
          </a:xfrm>
          <a:prstGeom prst="roundRect">
            <a:avLst/>
          </a:prstGeom>
          <a:solidFill>
            <a:srgbClr val="F2EB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353312"/>
            <a:ext cx="3246120" cy="73152"/>
          </a:xfrm>
          <a:prstGeom prst="rect">
            <a:avLst/>
          </a:prstGeom>
          <a:solidFill>
            <a:srgbClr val="6C0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572768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956816"/>
            <a:ext cx="2880360" cy="32644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PHI-like content blocking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Unsupported product claim detection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Source-grounding requirements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Draft/owner-review boundary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53312"/>
            <a:ext cx="3246120" cy="3977639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353312"/>
            <a:ext cx="324612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572768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956816"/>
            <a:ext cx="2880360" cy="32644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Newleaf onboarding scenario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Feature inventory scenario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PHI/security handling scenario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293436"/>
                </a:solidFill>
                <a:latin typeface="Roboto"/>
              </a:rPr>
              <a:t>Live eval ready once credential access is fixed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newleaf documentation method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256032"/>
            <a:ext cx="841248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t>The alert test improved the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t>Confirmed Newleaf primitives were separated from unconfirmed alert policy.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53312"/>
            <a:ext cx="3246120" cy="3977639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53312"/>
            <a:ext cx="324612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72768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t>Evidence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56816"/>
            <a:ext cx="2880360" cy="32644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t>Reorder thresholds</a:t>
            </a:r>
          </a:p>
          <a:p>
            <a:r>
              <a:t>QOH and available quantity</a:t>
            </a:r>
          </a:p>
          <a:p>
            <a:r>
              <a:t>Special-order alert/read flags</a:t>
            </a:r>
          </a:p>
          <a:p>
            <a:r>
              <a:t>Preferred wholesaler and PO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353312"/>
            <a:ext cx="3246120" cy="3977639"/>
          </a:xfrm>
          <a:prstGeom prst="roundRect">
            <a:avLst/>
          </a:prstGeom>
          <a:solidFill>
            <a:srgbClr val="F2EB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353312"/>
            <a:ext cx="3246120" cy="73152"/>
          </a:xfrm>
          <a:prstGeom prst="rect">
            <a:avLst/>
          </a:prstGeom>
          <a:solidFill>
            <a:srgbClr val="6C0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572768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t>Boundaries not confirmed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956816"/>
            <a:ext cx="2880360" cy="32644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t>No general acknowledge/snooze/resolve lifecycle</a:t>
            </a:r>
          </a:p>
          <a:p>
            <a:r>
              <a:t>No proven email/SMS/digest path</a:t>
            </a:r>
          </a:p>
          <a:p>
            <a:r>
              <a:t>No standard unresolved-alert CSV</a:t>
            </a:r>
          </a:p>
          <a:p>
            <a:r>
              <a:t>No owner-approved prescription-waiting definition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53312"/>
            <a:ext cx="3246120" cy="3977639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353312"/>
            <a:ext cx="324612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572768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956816"/>
            <a:ext cx="2880360" cy="32644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t>AI can distinguish existing primitives</a:t>
            </a:r>
          </a:p>
          <a:p>
            <a:r>
              <a:t>from configuration or policy review</a:t>
            </a:r>
          </a:p>
          <a:p>
            <a:r>
              <a:t>from likely new functionality</a:t>
            </a:r>
          </a:p>
          <a:p>
            <a:r>
              <a:t>without overclaiming product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newleaf documentation method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The operating model is repeatable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Each future product can follow the same sequence with owner-review gates.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658368" cy="841248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1</a:t>
            </a:r>
          </a:p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658368" cy="64008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1" y="2395728"/>
            <a:ext cx="1627632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890" b="1">
                <a:solidFill>
                  <a:srgbClr val="293436"/>
                </a:solidFill>
                <a:latin typeface="Roboto"/>
              </a:rPr>
              <a:t>Resolve product and Confluence context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8176" y="1920240"/>
            <a:ext cx="667512" cy="0"/>
          </a:xfrm>
          <a:prstGeom prst="line">
            <a:avLst/>
          </a:prstGeom>
          <a:ln w="17780">
            <a:solidFill>
              <a:srgbClr val="D7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60320" y="1572768"/>
            <a:ext cx="658368" cy="841248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2</a:t>
            </a:r>
          </a:p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1572768"/>
            <a:ext cx="658368" cy="64008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9424" y="2395728"/>
            <a:ext cx="1627632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890" b="1">
                <a:solidFill>
                  <a:srgbClr val="293436"/>
                </a:solidFill>
                <a:latin typeface="Roboto"/>
              </a:rPr>
              <a:t>Mine existing docs for source hints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7" y="1920240"/>
            <a:ext cx="667512" cy="0"/>
          </a:xfrm>
          <a:prstGeom prst="line">
            <a:avLst/>
          </a:prstGeom>
          <a:ln w="17780">
            <a:solidFill>
              <a:srgbClr val="D7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62272" y="1572768"/>
            <a:ext cx="658368" cy="841248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3</a:t>
            </a:r>
          </a:p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62272" y="1572768"/>
            <a:ext cx="658368" cy="64008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1376" y="2395728"/>
            <a:ext cx="1627632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890" b="1">
                <a:solidFill>
                  <a:srgbClr val="293436"/>
                </a:solidFill>
                <a:latin typeface="Roboto"/>
              </a:rPr>
              <a:t>Target repo evidence, not all code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12080" y="1920240"/>
            <a:ext cx="667512" cy="0"/>
          </a:xfrm>
          <a:prstGeom prst="line">
            <a:avLst/>
          </a:prstGeom>
          <a:ln w="17780">
            <a:solidFill>
              <a:srgbClr val="D7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64224" y="1572768"/>
            <a:ext cx="658368" cy="841248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4</a:t>
            </a:r>
          </a:p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64224" y="1572768"/>
            <a:ext cx="658368" cy="64008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2395728"/>
            <a:ext cx="1627632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890" b="1">
                <a:solidFill>
                  <a:srgbClr val="293436"/>
                </a:solidFill>
                <a:latin typeface="Roboto"/>
              </a:rPr>
              <a:t>Draft product pages and evidence pages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14032" y="1920240"/>
            <a:ext cx="667512" cy="0"/>
          </a:xfrm>
          <a:prstGeom prst="line">
            <a:avLst/>
          </a:prstGeom>
          <a:ln w="17780">
            <a:solidFill>
              <a:srgbClr val="D7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66175" y="1572768"/>
            <a:ext cx="658368" cy="841248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5</a:t>
            </a:r>
          </a:p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66175" y="1572768"/>
            <a:ext cx="658368" cy="64008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2395728"/>
            <a:ext cx="1627632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890" b="1">
                <a:solidFill>
                  <a:srgbClr val="293436"/>
                </a:solidFill>
                <a:latin typeface="Roboto"/>
              </a:rPr>
              <a:t>Publish draft-status source set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15984" y="1920240"/>
            <a:ext cx="667512" cy="0"/>
          </a:xfrm>
          <a:prstGeom prst="line">
            <a:avLst/>
          </a:prstGeom>
          <a:ln w="17780">
            <a:solidFill>
              <a:srgbClr val="D7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68128" y="1572768"/>
            <a:ext cx="658368" cy="841248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50" b="1">
                <a:solidFill>
                  <a:srgbClr val="293436"/>
                </a:solidFill>
                <a:latin typeface="Roboto"/>
              </a:rPr>
              <a:t>6</a:t>
            </a:r>
          </a:p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68128" y="1572768"/>
            <a:ext cx="658368" cy="64008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7232" y="2395728"/>
            <a:ext cx="1627632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890" b="1">
                <a:solidFill>
                  <a:srgbClr val="293436"/>
                </a:solidFill>
                <a:latin typeface="Roboto"/>
              </a:rPr>
              <a:t>Evaluate app output against docs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023360"/>
            <a:ext cx="4754880" cy="1188720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023360"/>
            <a:ext cx="475488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242816"/>
            <a:ext cx="43891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Repeatable because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626864"/>
            <a:ext cx="438912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It uses existing documentation to reduce search space.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It preserves uncertainty in reviewer pages.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023360"/>
            <a:ext cx="4754880" cy="1188720"/>
          </a:xfrm>
          <a:prstGeom prst="roundRect">
            <a:avLst/>
          </a:prstGeom>
          <a:solidFill>
            <a:srgbClr val="FFF4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80" y="4023360"/>
            <a:ext cx="4754880" cy="73152"/>
          </a:xfrm>
          <a:prstGeom prst="rect">
            <a:avLst/>
          </a:prstGeom>
          <a:solidFill>
            <a:srgbClr val="FF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242816"/>
            <a:ext cx="43891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Scalable because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626864"/>
            <a:ext cx="438912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It creates reusable page types and evaluation fixtures.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It gives each product a queryable source boundary.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newleaf documentation method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Governance keeps the system trustworthy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The workflow is fast, but it does not skip ownership or evidence hygiene.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89888"/>
            <a:ext cx="3246120" cy="3886200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89888"/>
            <a:ext cx="324612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09344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Before publishing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93392"/>
            <a:ext cx="2880360" cy="31729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69" b="0">
                <a:solidFill>
                  <a:srgbClr val="293436"/>
                </a:solidFill>
                <a:latin typeface="Roboto"/>
              </a:rPr>
              <a:t>Confirm destination and parent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293436"/>
                </a:solidFill>
                <a:latin typeface="Roboto"/>
              </a:rPr>
              <a:t>Confirm audience and ownership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293436"/>
                </a:solidFill>
                <a:latin typeface="Roboto"/>
              </a:rPr>
              <a:t>Run sensitive-content checks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293436"/>
                </a:solidFill>
                <a:latin typeface="Roboto"/>
              </a:rPr>
              <a:t>Keep Development content source-only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389888"/>
            <a:ext cx="3246120" cy="3886200"/>
          </a:xfrm>
          <a:prstGeom prst="roundRect">
            <a:avLst/>
          </a:prstGeom>
          <a:solidFill>
            <a:srgbClr val="FFF4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389888"/>
            <a:ext cx="3246120" cy="73152"/>
          </a:xfrm>
          <a:prstGeom prst="rect">
            <a:avLst/>
          </a:prstGeom>
          <a:solidFill>
            <a:srgbClr val="FF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609344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Before canonical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993392"/>
            <a:ext cx="2880360" cy="31729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69" b="0">
                <a:solidFill>
                  <a:srgbClr val="293436"/>
                </a:solidFill>
                <a:latin typeface="Roboto"/>
              </a:rPr>
              <a:t>Product validates capabilities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293436"/>
                </a:solidFill>
                <a:latin typeface="Roboto"/>
              </a:rPr>
              <a:t>Engineering validates boundaries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293436"/>
                </a:solidFill>
                <a:latin typeface="Roboto"/>
              </a:rPr>
              <a:t>Support validates triage paths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293436"/>
                </a:solidFill>
                <a:latin typeface="Roboto"/>
              </a:rPr>
              <a:t>Security validates PHI/compliance framing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89888"/>
            <a:ext cx="3246120" cy="3886200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389888"/>
            <a:ext cx="324612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609344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Before pilot hardening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993392"/>
            <a:ext cx="2880360" cy="31729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69" b="0">
                <a:solidFill>
                  <a:srgbClr val="293436"/>
                </a:solidFill>
                <a:latin typeface="Roboto"/>
              </a:rPr>
              <a:t>Confluence credential passes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293436"/>
                </a:solidFill>
                <a:latin typeface="Roboto"/>
              </a:rPr>
              <a:t>Tool calls carry user context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293436"/>
                </a:solidFill>
                <a:latin typeface="Roboto"/>
              </a:rPr>
              <a:t>Live eval suite runs cleanly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293436"/>
                </a:solidFill>
                <a:latin typeface="Roboto"/>
              </a:rPr>
              <a:t>Unsupported claims fail deterministically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newleaf documentation method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Business impact: less rediscovery, better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The work creates a product knowledge layer that can be reused by people and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44752"/>
            <a:ext cx="3246120" cy="3520440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324612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64208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Product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48256"/>
            <a:ext cx="2880360" cy="2807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Clearer product capability map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Known constraints and limitations visible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Better roadmap and investment conversations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444752"/>
            <a:ext cx="3246120" cy="3520440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444752"/>
            <a:ext cx="324612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664208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BA and intake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048256"/>
            <a:ext cx="2880360" cy="2807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Less manual rediscovery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Better questions at request start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Earlier classification of scope and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44752"/>
            <a:ext cx="3246120" cy="3520440"/>
          </a:xfrm>
          <a:prstGeom prst="roundRect">
            <a:avLst/>
          </a:prstGeom>
          <a:solidFill>
            <a:srgbClr val="FFF4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444752"/>
            <a:ext cx="3246120" cy="73152"/>
          </a:xfrm>
          <a:prstGeom prst="rect">
            <a:avLst/>
          </a:prstGeom>
          <a:solidFill>
            <a:srgbClr val="FF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664208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Engineering and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48256"/>
            <a:ext cx="2880360" cy="2807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Boundaries are easier to explain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Evidence is traceable without raw code dumps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Support triage has a shared starting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newleaf documentation method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Recommended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Use Newleaf as the pilot, then make the recipe an operating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36192"/>
            <a:ext cx="4983480" cy="3749039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36192"/>
            <a:ext cx="498348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46177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Next 30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9696"/>
            <a:ext cx="4617720" cy="30358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40" b="0">
                <a:solidFill>
                  <a:srgbClr val="293436"/>
                </a:solidFill>
                <a:latin typeface="Roboto"/>
              </a:rPr>
              <a:t>Validate Newleaf pages with product, implementation, support, and security owners.</a:t>
            </a:r>
          </a:p>
          <a:p>
            <a:pPr>
              <a:spcAft>
                <a:spcPts val="500"/>
              </a:spcAft>
            </a:pPr>
            <a:r>
              <a:rPr sz="1040" b="0">
                <a:solidFill>
                  <a:srgbClr val="293436"/>
                </a:solidFill>
                <a:latin typeface="Roboto"/>
              </a:rPr>
              <a:t>Fix the SmartReq Confluence credential so live evals can run against PD1.</a:t>
            </a:r>
          </a:p>
          <a:p>
            <a:pPr>
              <a:spcAft>
                <a:spcPts val="500"/>
              </a:spcAft>
            </a:pPr>
            <a:r>
              <a:rPr sz="1040" b="0">
                <a:solidFill>
                  <a:srgbClr val="293436"/>
                </a:solidFill>
                <a:latin typeface="Roboto"/>
              </a:rPr>
              <a:t>Record which pages are canonical, draft, or owner-review only.</a:t>
            </a:r>
          </a:p>
          <a:p>
            <a:pPr>
              <a:spcAft>
                <a:spcPts val="500"/>
              </a:spcAft>
            </a:pPr>
            <a:r>
              <a:rPr sz="1040" b="0">
                <a:solidFill>
                  <a:srgbClr val="293436"/>
                </a:solidFill>
                <a:latin typeface="Roboto"/>
              </a:rPr>
              <a:t>Select one additional product for the next documentation pass.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36192"/>
            <a:ext cx="4983480" cy="3749039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36192"/>
            <a:ext cx="498348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55648"/>
            <a:ext cx="46177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Decision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39696"/>
            <a:ext cx="4617720" cy="30358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40" b="0">
                <a:solidFill>
                  <a:srgbClr val="293436"/>
                </a:solidFill>
                <a:latin typeface="Roboto"/>
              </a:rPr>
              <a:t>Approve Newleaf Horizon as the pilot product documentation source set.</a:t>
            </a:r>
          </a:p>
          <a:p>
            <a:pPr>
              <a:spcAft>
                <a:spcPts val="500"/>
              </a:spcAft>
            </a:pPr>
            <a:r>
              <a:rPr sz="1040" b="0">
                <a:solidFill>
                  <a:srgbClr val="293436"/>
                </a:solidFill>
                <a:latin typeface="Roboto"/>
              </a:rPr>
              <a:t>Adopt this repeatable documentation recipe for the next product.</a:t>
            </a:r>
          </a:p>
          <a:p>
            <a:pPr>
              <a:spcAft>
                <a:spcPts val="500"/>
              </a:spcAft>
            </a:pPr>
            <a:r>
              <a:rPr sz="1040" b="0">
                <a:solidFill>
                  <a:srgbClr val="293436"/>
                </a:solidFill>
                <a:latin typeface="Roboto"/>
              </a:rPr>
              <a:t>Treat product documentation quality as intake infrastructure, not a side task.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newleaf documentation method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Appendix: source set and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The local files remain the build source; Product Documentation holds the queryable draft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316736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CA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80" b="1">
                <a:solidFill>
                  <a:srgbClr val="293436"/>
                </a:solidFill>
                <a:latin typeface="Roboto"/>
              </a:rPr>
              <a:t>local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4983480" cy="3611880"/>
          </a:xfrm>
          <a:prstGeom prst="roundRect">
            <a:avLst/>
          </a:prstGeom>
          <a:solidFill>
            <a:srgbClr val="E8F7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498348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5"/>
            <a:ext cx="46177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Local 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40864"/>
            <a:ext cx="4617720" cy="28986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890" b="0">
                <a:solidFill>
                  <a:srgbClr val="293436"/>
                </a:solidFill>
                <a:latin typeface="Roboto"/>
              </a:rPr>
              <a:t>/Users/djames/Documents/AutoDocumentation/newleaf-documentation-repeatable-process.md</a:t>
            </a:r>
          </a:p>
          <a:p>
            <a:pPr>
              <a:spcAft>
                <a:spcPts val="500"/>
              </a:spcAft>
            </a:pPr>
            <a:r>
              <a:rPr sz="890" b="0">
                <a:solidFill>
                  <a:srgbClr val="293436"/>
                </a:solidFill>
                <a:latin typeface="Roboto"/>
              </a:rPr>
              <a:t>/Users/djames/Documents/AutoDocumentation/kcx-newleaf-horizon</a:t>
            </a:r>
          </a:p>
          <a:p>
            <a:pPr>
              <a:spcAft>
                <a:spcPts val="500"/>
              </a:spcAft>
            </a:pPr>
            <a:r>
              <a:rPr sz="890" b="0">
                <a:solidFill>
                  <a:srgbClr val="293436"/>
                </a:solidFill>
                <a:latin typeface="Roboto"/>
              </a:rPr>
              <a:t>This branded deck saved beside the source 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16736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D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80" b="1">
                <a:solidFill>
                  <a:srgbClr val="293436"/>
                </a:solidFill>
                <a:latin typeface="Roboto"/>
              </a:rPr>
              <a:t>confluence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4983480" cy="3611880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498348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56815"/>
            <a:ext cx="46177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Queryable source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40864"/>
            <a:ext cx="4617720" cy="28986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950" b="0">
                <a:solidFill>
                  <a:srgbClr val="293436"/>
                </a:solidFill>
                <a:latin typeface="Roboto"/>
              </a:rPr>
              <a:t>Space: Product Documentation (PD1)</a:t>
            </a:r>
          </a:p>
          <a:p>
            <a:pPr>
              <a:spcAft>
                <a:spcPts val="500"/>
              </a:spcAft>
            </a:pPr>
            <a:r>
              <a:rPr sz="950" b="0">
                <a:solidFill>
                  <a:srgbClr val="293436"/>
                </a:solidFill>
                <a:latin typeface="Roboto"/>
              </a:rPr>
              <a:t>Root: Newleaf Horizon</a:t>
            </a:r>
          </a:p>
          <a:p>
            <a:pPr>
              <a:spcAft>
                <a:spcPts val="500"/>
              </a:spcAft>
            </a:pPr>
            <a:r>
              <a:rPr sz="950" b="0">
                <a:solidFill>
                  <a:srgbClr val="293436"/>
                </a:solidFill>
                <a:latin typeface="Roboto"/>
              </a:rPr>
              <a:t>Root page id: 1719894128</a:t>
            </a:r>
          </a:p>
          <a:p>
            <a:pPr>
              <a:spcAft>
                <a:spcPts val="500"/>
              </a:spcAft>
            </a:pPr>
            <a:r>
              <a:rPr sz="950" b="0">
                <a:solidFill>
                  <a:srgbClr val="293436"/>
                </a:solidFill>
                <a:latin typeface="Roboto"/>
              </a:rPr>
              <a:t>Draft/owner-review status in page banners and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newleaf documentation method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ycentrix-Colors">
      <a:dk1>
        <a:srgbClr val="293436"/>
      </a:dk1>
      <a:lt1>
        <a:srgbClr val="FFFFFF"/>
      </a:lt1>
      <a:dk2>
        <a:srgbClr val="2A3336"/>
      </a:dk2>
      <a:lt2>
        <a:srgbClr val="FEFFFF"/>
      </a:lt2>
      <a:accent1>
        <a:srgbClr val="4D9CE2"/>
      </a:accent1>
      <a:accent2>
        <a:srgbClr val="7CF1A1"/>
      </a:accent2>
      <a:accent3>
        <a:srgbClr val="DDDEDD"/>
      </a:accent3>
      <a:accent4>
        <a:srgbClr val="737A7B"/>
      </a:accent4>
      <a:accent5>
        <a:srgbClr val="293436"/>
      </a:accent5>
      <a:accent6>
        <a:srgbClr val="6DD58D"/>
      </a:accent6>
      <a:hlink>
        <a:srgbClr val="293437"/>
      </a:hlink>
      <a:folHlink>
        <a:srgbClr val="77E79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txDef>
      <a:spPr/>
      <a:bodyPr wrap="square" rtlCol="0">
        <a:normAutofit/>
      </a:bodyPr>
      <a:lstStyle>
        <a:defPPr marL="0" indent="0" algn="l">
          <a:lnSpc>
            <a:spcPct val="100000"/>
          </a:lnSpc>
          <a:buNone/>
          <a:defRPr dirty="0" smtClean="0">
            <a:latin typeface="Roboto" panose="02000000000000000000" pitchFamily="2" charset="0"/>
            <a:ea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11406DC0-268C-9541-9CC9-846836164F7A}" vid="{80B1C4B2-7E92-6C41-A805-09B459A4DD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4353BF5D63BC45B8C2D3D35350BEAB" ma:contentTypeVersion="4" ma:contentTypeDescription="Create a new document." ma:contentTypeScope="" ma:versionID="21cfc6b0f3954b89b2de93665a1988c7">
  <xsd:schema xmlns:xsd="http://www.w3.org/2001/XMLSchema" xmlns:xs="http://www.w3.org/2001/XMLSchema" xmlns:p="http://schemas.microsoft.com/office/2006/metadata/properties" xmlns:ns2="15bbc6bc-2fe6-498d-a900-523cc83ce7a3" targetNamespace="http://schemas.microsoft.com/office/2006/metadata/properties" ma:root="true" ma:fieldsID="b310812b72de887aff2b5bea07fe74c5" ns2:_="">
    <xsd:import namespace="15bbc6bc-2fe6-498d-a900-523cc83ce7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bbc6bc-2fe6-498d-a900-523cc83ce7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4ACF5B-39BD-4056-8849-8A731562BA9B}">
  <ds:schemaRefs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88538368-17db-4068-b10d-26d330d72c3c"/>
    <ds:schemaRef ds:uri="http://schemas.microsoft.com/office/infopath/2007/PartnerControls"/>
    <ds:schemaRef ds:uri="http://schemas.openxmlformats.org/package/2006/metadata/core-properties"/>
    <ds:schemaRef ds:uri="5296b846-5d2e-4a1f-a106-977549851a78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7E135BC-9B49-4ADB-8794-03864B06BB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4D5E17-FE0C-4AD6-B0AE-D23B4D130034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209</Words>
  <Application>Microsoft Macintosh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Inter</vt:lpstr>
      <vt:lpstr>Museo Sans 300</vt:lpstr>
      <vt:lpstr>Roboto</vt:lpstr>
      <vt:lpstr>Roboto Light</vt:lpstr>
      <vt:lpstr>Office Theme</vt:lpstr>
      <vt:lpstr>Title slide with white background</vt:lpstr>
      <vt:lpstr>Chapter break with a white background</vt:lpstr>
      <vt:lpstr>Headline &amp; Text with Image at the bottom</vt:lpstr>
      <vt:lpstr>Headline &amp; Text to the left, image to the right</vt:lpstr>
      <vt:lpstr>Headline &amp; Image on left, text on right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with white background</dc:title>
  <dc:creator>Emily Juhnke</dc:creator>
  <cp:lastModifiedBy>Emily Juhnke</cp:lastModifiedBy>
  <cp:revision>5</cp:revision>
  <cp:lastPrinted>2019-08-02T19:20:03Z</cp:lastPrinted>
  <dcterms:created xsi:type="dcterms:W3CDTF">2020-07-09T20:17:14Z</dcterms:created>
  <dcterms:modified xsi:type="dcterms:W3CDTF">2023-01-26T22:30:35Z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0x010100BE4353BF5D63BC45B8C2D3D35350BEAB</vt:lpwstr>
  </property>
  <property fmtid="{D5CDD505-2E9C-101B-9397-08002B2CF9AE}" pid="3" name="MediaServiceImageTags">
    <vt:lpwstr/>
  </property>
</Properties>
</file>