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84" r:id="rId5"/>
    <p:sldId id="285" r:id="rId10"/>
    <p:sldId id="286" r:id="rId9"/>
    <p:sldId id="287" r:id="rId8"/>
    <p:sldId id="288" r:id="rId7"/>
    <p:sldId id="289" r:id="rId6"/>
    <p:sldId id="290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5915"/>
  </p:normalViewPr>
  <p:slideViewPr>
    <p:cSldViewPr snapToGrid="0" snapToObjects="1">
      <p:cViewPr varScale="1">
        <p:scale>
          <a:sx n="114" d="100"/>
          <a:sy n="114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A471-3BC9-7144-896D-35D27501F867}" type="datetimeFigureOut">
              <a:rPr lang="en-US" smtClean="0"/>
              <a:t>1/26/23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2D817-624A-3844-ADA7-10031BF8A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6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9A0D2A-57DF-E44A-A371-2450D2CA77CF}"/>
              </a:ext>
            </a:extLst>
          </p:cNvPr>
          <p:cNvSpPr txBox="1">
            <a:spLocks/>
          </p:cNvSpPr>
          <p:nvPr userDrawn="1"/>
        </p:nvSpPr>
        <p:spPr>
          <a:xfrm>
            <a:off x="547962" y="3041584"/>
            <a:ext cx="4784434" cy="2464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b="0" i="0" kern="1200">
                <a:solidFill>
                  <a:schemeClr val="tx1"/>
                </a:solidFill>
                <a:latin typeface="Igna Sans Medium It" pitchFamily="2" charset="77"/>
                <a:ea typeface="+mj-ea"/>
                <a:cs typeface="+mj-cs"/>
              </a:defRPr>
            </a:lvl1pPr>
          </a:lstStyle>
          <a:p>
            <a:endParaRPr lang="en-US" sz="2000" b="0" i="0">
              <a:latin typeface="Museo Sans 300" panose="02000000000000000000" pitchFamily="2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1898C-DAFF-3840-9140-7411E7BC2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432" y="2457860"/>
            <a:ext cx="8663135" cy="1816223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49136-A851-FA48-979A-2D72ADE53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7962" y="501787"/>
            <a:ext cx="3542257" cy="6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ckground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D27F-9B74-644D-9F06-D6BFFF5FA7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831" y="707901"/>
            <a:ext cx="7385538" cy="181622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Join Our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81AD0-D566-CB4D-B66D-81E89F00C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31" y="3083168"/>
            <a:ext cx="7385538" cy="240323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7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abov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11090726" cy="539014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2598821"/>
            <a:ext cx="11446860" cy="41292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8" y="1097280"/>
            <a:ext cx="11446860" cy="131866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719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Left - Image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83680" y="335131"/>
            <a:ext cx="5245768" cy="62485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7" y="1799924"/>
            <a:ext cx="5225733" cy="478375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40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Image Left - Text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1799924"/>
            <a:ext cx="5245768" cy="4783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3646" y="335131"/>
            <a:ext cx="5225733" cy="6248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6EF389-8EC2-7D4B-B874-2DCEB828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091" y="489188"/>
            <a:ext cx="8613974" cy="1816223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476EB-19AB-4F44-8717-FD7415B7E247}"/>
              </a:ext>
            </a:extLst>
          </p:cNvPr>
          <p:cNvSpPr txBox="1"/>
          <p:nvPr userDrawn="1"/>
        </p:nvSpPr>
        <p:spPr>
          <a:xfrm>
            <a:off x="3423424" y="5475249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86FA5-513F-2246-A99B-32D948F091FB}"/>
              </a:ext>
            </a:extLst>
          </p:cNvPr>
          <p:cNvSpPr txBox="1"/>
          <p:nvPr userDrawn="1"/>
        </p:nvSpPr>
        <p:spPr>
          <a:xfrm>
            <a:off x="7805854" y="380256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636FE-A253-D145-B37D-1F223CBEFB15}"/>
              </a:ext>
            </a:extLst>
          </p:cNvPr>
          <p:cNvSpPr txBox="1"/>
          <p:nvPr userDrawn="1"/>
        </p:nvSpPr>
        <p:spPr>
          <a:xfrm>
            <a:off x="3599848" y="480300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B4EF-1F25-6748-A298-852096D08BC2}"/>
              </a:ext>
            </a:extLst>
          </p:cNvPr>
          <p:cNvSpPr txBox="1"/>
          <p:nvPr userDrawn="1"/>
        </p:nvSpPr>
        <p:spPr>
          <a:xfrm>
            <a:off x="4013735" y="4754880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43085-0EE7-C642-8672-B2DA8E0EF3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11010" y="6017683"/>
            <a:ext cx="2784728" cy="4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599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20F0E-D71B-294C-BF21-4F15C8BF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D91E-F303-6D42-93A7-0A264AFC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EF78-9278-0E4E-BCCF-2E6E302F7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CDFBBD1-029F-CF4A-B19B-0B0873265901}" type="datetimeFigureOut">
              <a:rPr lang="en-US" smtClean="0"/>
              <a:pPr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471EE-DD3D-894C-8DD1-665614D17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A389C-03A8-3645-B2C9-6713E6E43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E83FBA-E151-4548-B032-AD5A189E5A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4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8CCB-FF03-8045-9652-99F9B2B8A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KCXDocumentor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4680" y="4407408"/>
            <a:ext cx="65836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737A7B"/>
                </a:solidFill>
                <a:latin typeface="Roboto"/>
              </a:rPr>
              <a:t>Turning workflow recordings into reviewable user guides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4828032"/>
            <a:ext cx="6583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0">
                <a:solidFill>
                  <a:srgbClr val="737A7B"/>
                </a:solidFill>
                <a:latin typeface="Roboto"/>
              </a:rPr>
              <a:t>Built with the DamienDev presentation recipe pattern</a:t>
            </a:r>
          </a:p>
        </p:txBody>
      </p:sp>
    </p:spTree>
    <p:extLst>
      <p:ext uri="{BB962C8B-B14F-4D97-AF65-F5344CB8AC3E}">
        <p14:creationId xmlns:p14="http://schemas.microsoft.com/office/powerpoint/2010/main" val="37412704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The Documentation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BA, trainer, and implementation teams already capture useful walkthroughs.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Current drag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Rewatch long recordings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Identify workflow steps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Capture screenshots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Rewrite narration into user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One-hour videos can take many hours to document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Quality varies by author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Manual screenshot selection slows publication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What KCXDocumentor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tool turns local recordings into reviewable DOCX guides.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Guided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Import recording and transcript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Process locally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Review screenshots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Create and download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Rejected frames are excluded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Reviewer notes travel into generation context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Comments identify areas needing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Local-First AI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Raw video remains on the workstation.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Local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FFmpeg, Whisper, OCR, and frame extraction run locally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Artifacts stay in mapped workstation folders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AI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Compact transcript and metadata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Reviewer-approved screenshots and notes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No raw video sent to the 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Current Build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The internal build is ready for hands-on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Dockerized local web console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Runtime Whisper setup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Windows-friendly folder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Cloud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Entra sign-in with MSAL + PKCE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Azure Function proxy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Cosmos-backed AI Spend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AI Spend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Usage reporting makes the economics understandable.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78992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90472"/>
          <a:ext cx="10789920" cy="4361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23098">
                <a:tc>
                  <a:txBody>
                    <a:bodyPr anchor="ctr"/>
                    <a:lstStyle/>
                    <a:p>
                      <a:pPr algn="ctr"/>
                      <a:r>
                        <a:rPr sz="919" b="1">
                          <a:solidFill>
                            <a:srgbClr val="293436"/>
                          </a:solidFill>
                          <a:latin typeface="Roboto"/>
                        </a:rPr>
                        <a:t>Metric</a:t>
                      </a:r>
                    </a:p>
                  </a:txBody>
                  <a:tcPr>
                    <a:solidFill>
                      <a:srgbClr val="E8F7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19" b="1">
                          <a:solidFill>
                            <a:srgbClr val="293436"/>
                          </a:solidFill>
                          <a:latin typeface="Roboto"/>
                        </a:rPr>
                        <a:t>Why Executives Care</a:t>
                      </a:r>
                    </a:p>
                  </a:txBody>
                  <a:tcPr>
                    <a:solidFill>
                      <a:srgbClr val="E8F7FE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Documents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Shows output volume.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Tokens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Explains model consumption.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Estimated Cost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Keeps spend transparent.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Pages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Connects cost to documentation produced.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Cost Per Page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Creates a comparable unit economics metric.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3098">
                <a:tc>
                  <a:txBody>
                    <a:bodyPr anchor="ctr"/>
                    <a:lstStyle/>
                    <a:p>
                      <a:r>
                        <a:rPr sz="880" b="1">
                          <a:solidFill>
                            <a:srgbClr val="293436"/>
                          </a:solidFill>
                          <a:latin typeface="Roboto"/>
                        </a:rPr>
                        <a:t>User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880" b="0">
                          <a:solidFill>
                            <a:srgbClr val="293436"/>
                          </a:solidFill>
                          <a:latin typeface="Roboto"/>
                        </a:rPr>
                        <a:t>Attributes generation to the authenticated employee.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Validation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Run representative recordings through the same workflow the team will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Teams recordings with transcripts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Recordings without transcripts using Whisper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Multiple workflow lengths and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Time to first usable guide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Screenshot relevance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Reviewer edits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Cost per guide and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1168"/>
            <a:ext cx="2057400" cy="3533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50" b="1">
                <a:solidFill>
                  <a:srgbClr val="293436"/>
                </a:solidFill>
                <a:latin typeface="Roboto"/>
              </a:rPr>
              <a:t>Decision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595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>
                <a:solidFill>
                  <a:srgbClr val="737A7B"/>
                </a:solidFill>
                <a:latin typeface="Roboto"/>
              </a:rPr>
              <a:t>Approve internal use with BAs and trainers for focused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1234440" cy="73152"/>
          </a:xfrm>
          <a:prstGeom prst="round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6446520"/>
            <a:ext cx="5303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50" b="0">
                <a:solidFill>
                  <a:srgbClr val="737A7B"/>
                </a:solidFill>
                <a:latin typeface="Roboto"/>
              </a:rPr>
              <a:t>keycentrix | KCXDocumentor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57800" cy="4297680"/>
          </a:xfrm>
          <a:prstGeom prst="roundRect">
            <a:avLst/>
          </a:prstGeom>
          <a:solidFill>
            <a:srgbClr val="F4F6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257800" cy="73152"/>
          </a:xfrm>
          <a:prstGeom prst="rect">
            <a:avLst/>
          </a:prstGeom>
          <a:solidFill>
            <a:srgbClr val="0CA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What approval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Representative workflow testing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Quality feedback from target users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Evidence for broader rollout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417320"/>
            <a:ext cx="5257800" cy="4297680"/>
          </a:xfrm>
          <a:prstGeom prst="roundRect">
            <a:avLst/>
          </a:prstGeom>
          <a:solidFill>
            <a:srgbClr val="E9F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417320"/>
            <a:ext cx="5257800" cy="73152"/>
          </a:xfrm>
          <a:prstGeom prst="rect">
            <a:avLst/>
          </a:prstGeom>
          <a:solidFill>
            <a:srgbClr val="1FD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36776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93436"/>
                </a:solidFill>
                <a:latin typeface="Roboto"/>
              </a:rPr>
              <a:t>Success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20824"/>
            <a:ext cx="4892040" cy="3584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Draft guides are readable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Reviewers trust screenshot control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293436"/>
                </a:solidFill>
                <a:latin typeface="Roboto"/>
              </a:rPr>
              <a:t>Costs are visible and predictable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ycentrix-Colors">
      <a:dk1>
        <a:srgbClr val="293436"/>
      </a:dk1>
      <a:lt1>
        <a:srgbClr val="FFFFFF"/>
      </a:lt1>
      <a:dk2>
        <a:srgbClr val="2A3336"/>
      </a:dk2>
      <a:lt2>
        <a:srgbClr val="FEFFFF"/>
      </a:lt2>
      <a:accent1>
        <a:srgbClr val="4D9CE2"/>
      </a:accent1>
      <a:accent2>
        <a:srgbClr val="7CF1A1"/>
      </a:accent2>
      <a:accent3>
        <a:srgbClr val="DDDEDD"/>
      </a:accent3>
      <a:accent4>
        <a:srgbClr val="737A7B"/>
      </a:accent4>
      <a:accent5>
        <a:srgbClr val="293436"/>
      </a:accent5>
      <a:accent6>
        <a:srgbClr val="6DD58D"/>
      </a:accent6>
      <a:hlink>
        <a:srgbClr val="293437"/>
      </a:hlink>
      <a:folHlink>
        <a:srgbClr val="77E79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txDef>
      <a:spPr/>
      <a:bodyPr wrap="square" rtlCol="0">
        <a:normAutofit/>
      </a:bodyPr>
      <a:lstStyle>
        <a:defPPr marL="0" indent="0" algn="l">
          <a:lnSpc>
            <a:spcPct val="100000"/>
          </a:lnSpc>
          <a:buNone/>
          <a:defRPr dirty="0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11406DC0-268C-9541-9CC9-846836164F7A}" vid="{80B1C4B2-7E92-6C41-A805-09B459A4D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538368-17db-4068-b10d-26d330d72c3c">
      <Terms xmlns="http://schemas.microsoft.com/office/infopath/2007/PartnerControls"/>
    </lcf76f155ced4ddcb4097134ff3c332f>
    <TaxCatchAll xmlns="5296b846-5d2e-4a1f-a106-977549851a7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BC9AF7D0469244B9F5F8B2940F3488" ma:contentTypeVersion="18" ma:contentTypeDescription="Create a new document." ma:contentTypeScope="" ma:versionID="41a62d13f2b48f1d9d223aa8ed696c6c">
  <xsd:schema xmlns:xsd="http://www.w3.org/2001/XMLSchema" xmlns:xs="http://www.w3.org/2001/XMLSchema" xmlns:p="http://schemas.microsoft.com/office/2006/metadata/properties" xmlns:ns2="88538368-17db-4068-b10d-26d330d72c3c" xmlns:ns3="5296b846-5d2e-4a1f-a106-977549851a78" targetNamespace="http://schemas.microsoft.com/office/2006/metadata/properties" ma:root="true" ma:fieldsID="81d1264b4217c794914a5c810e3dcf3d" ns2:_="" ns3:_="">
    <xsd:import namespace="88538368-17db-4068-b10d-26d330d72c3c"/>
    <xsd:import namespace="5296b846-5d2e-4a1f-a106-977549851a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38368-17db-4068-b10d-26d330d72c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bef4db8-6d90-4361-b142-da04627788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6b846-5d2e-4a1f-a106-977549851a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cad227f-079b-40e7-b7ed-ff3c0fff12c3}" ma:internalName="TaxCatchAll" ma:showField="CatchAllData" ma:web="5296b846-5d2e-4a1f-a106-977549851a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ACF5B-39BD-4056-8849-8A731562BA9B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88538368-17db-4068-b10d-26d330d72c3c"/>
    <ds:schemaRef ds:uri="http://schemas.microsoft.com/office/infopath/2007/PartnerControls"/>
    <ds:schemaRef ds:uri="http://schemas.openxmlformats.org/package/2006/metadata/core-properties"/>
    <ds:schemaRef ds:uri="5296b846-5d2e-4a1f-a106-977549851a7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7E135BC-9B49-4ADB-8794-03864B06BB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51713A-6A5A-4407-888F-84656E6EB70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209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</vt:lpstr>
      <vt:lpstr>Museo Sans 300</vt:lpstr>
      <vt:lpstr>Roboto</vt:lpstr>
      <vt:lpstr>Roboto Light</vt:lpstr>
      <vt:lpstr>Office Theme</vt:lpstr>
      <vt:lpstr>Title slide with white background</vt:lpstr>
      <vt:lpstr>Chapter break with a white background</vt:lpstr>
      <vt:lpstr>Headline &amp; Text with Image at the bottom</vt:lpstr>
      <vt:lpstr>Headline &amp; Text to the left, image to the right</vt:lpstr>
      <vt:lpstr>Headline &amp; Image on left, text on right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with white background</dc:title>
  <dc:creator>Emily Juhnke</dc:creator>
  <cp:lastModifiedBy>Emily Juhnke</cp:lastModifiedBy>
  <cp:revision>5</cp:revision>
  <cp:lastPrinted>2019-08-02T19:20:03Z</cp:lastPrinted>
  <dcterms:created xsi:type="dcterms:W3CDTF">2020-07-09T20:17:14Z</dcterms:created>
  <dcterms:modified xsi:type="dcterms:W3CDTF">2023-01-26T22:30:35Z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0x0101009DBC9AF7D0469244B9F5F8B2940F3488</vt:lpwstr>
  </property>
  <property fmtid="{D5CDD505-2E9C-101B-9397-08002B2CF9AE}" pid="3" name="MediaServiceImageTags">
    <vt:lpwstr/>
  </property>
</Properties>
</file>