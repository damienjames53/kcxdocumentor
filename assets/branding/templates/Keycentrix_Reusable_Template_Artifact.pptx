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/ instructions slide. Use this deck as the reusable brand artifact. Duplicate the layout slide closest to your need and replace the labels, not the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title slides, story resets, and high-level executive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when you need four parallel pressures, risks, or market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outcome pillars, buying criteria, or business-plus-technical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maturity curves, deployment options, or phased decision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architecture, capability maps, and workflow-linked technical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controls-by-domain, governance pillars, or audit-answer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continuity posture, recovery flow, or service-level proof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migrations, pilots, rollout programs, and gated change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ownership boundaries, service model, and governance responsibility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TCO drivers, measurable outcomes, and economic bridge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next steps, approval asks, pilot path, or governance kickoff.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Q&amp;A backup, competitive readiness, assumptions, or proof appendices.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when you want a brighter opening or platform-modernization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when the story needs more resilience energy than the main continuity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trust, security posture, and compliance-by-design messaging.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Keycentrix Reusable Presentation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A branded artifact deck built from approved backgrounds and reusable layout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6492240" cy="3703320"/>
          </a:xfrm>
          <a:prstGeom prst="round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/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D8F5FF"/>
                </a:solidFill>
                <a:latin typeface="Segoe UI"/>
              </a:rPr>
              <a:t>What this is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Duplicate the closest layout slide in this deck, replace the labels, and keep the brand header + background intact.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2F7FB"/>
                </a:solidFill>
                <a:latin typeface="Segoe UI"/>
              </a:rPr>
              <a:t>Use the approved imagery, transparent glass panels, and Keycentrix blue / teal system as the baseline visual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828800"/>
            <a:ext cx="1828800" cy="9144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15 backgrounds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One slide per approved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828800"/>
            <a:ext cx="1828800" cy="9144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Brand safe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Logo, header, and footer included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71800"/>
            <a:ext cx="1828800" cy="9144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Reuse fast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Duplicate then replace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971800"/>
            <a:ext cx="1828800" cy="9144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Modern tone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Designed around approved deck styling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Template use: duplicate the slide pattern you need, replace placeholder copy, keep spacing intentional.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Hero Story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Primary opening or section-reset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6400800" cy="34290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Hero story panel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kicker, conclusion headline, and two or three short supporting bullets.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920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9488" y="1920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063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3063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bg_title_story.png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roblem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Problem / Pressure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Four-card pressure or challenge framing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822960"/>
          </a:xfrm>
          <a:prstGeom prst="round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77800" tIns="177800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Intro framing zone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2F7FB"/>
                </a:solidFill>
                <a:latin typeface="Segoe UI"/>
              </a:rPr>
              <a:t>One sentence to establish the slide purpose before the cards begin.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73152" cy="8229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01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02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03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01784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04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bg_problem_landscape.png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utcome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Outcome / Split Story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Four outcomes plus one synthesis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4572000" cy="822960"/>
          </a:xfrm>
          <a:prstGeom prst="round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77800" tIns="177800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Story lead-in zone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2F7FB"/>
                </a:solidFill>
                <a:latin typeface="Segoe UI"/>
              </a:rPr>
              <a:t>Use for the buying logic sentence or outcome framing 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73152" cy="8229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423160"/>
            <a:ext cx="2514600" cy="15544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Outcome A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Short title + one proof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423160"/>
            <a:ext cx="2514600" cy="15544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Outcome B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Short title + one proof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2514600" cy="15544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Outcome C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Short title + one proof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3749039"/>
            <a:ext cx="2514600" cy="15544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Outcome D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Short title + one proof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423160"/>
            <a:ext cx="5212080" cy="28803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1E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Synthesis panel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combined takeaway, executive summary, or audience bridge.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bg_outcome_pillars.png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ployment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Continuum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Three-stage maturity or deployment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822960"/>
          </a:xfrm>
          <a:prstGeom prst="round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77800" tIns="177800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Lead-in zone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2F7FB"/>
                </a:solidFill>
                <a:latin typeface="Segoe UI"/>
              </a:rPr>
              <a:t>Use this for the conclusion headline or the stage-setting sentence above the phases.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73152" cy="8229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34290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Stage 1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left-side starting point or earliest phase.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560320"/>
            <a:ext cx="34290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Stage 2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transition state, pilot state, or growth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560320"/>
            <a:ext cx="34290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Stage 3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target state, scale state, or managed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bg_deployment_path.png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apabil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Architecture Canvas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Technical map with supporting callouts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08760"/>
            <a:ext cx="11064240" cy="416052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Primary architecture canvas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this area for the technical map, reference architecture, or capability diagram. Keep labels minimal and reinforce layering.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79008"/>
            <a:ext cx="3383280" cy="50292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Callout zone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clarifying note or legend.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779008"/>
            <a:ext cx="3383280" cy="50292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Callout zone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proof point or architecture bridge.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779008"/>
            <a:ext cx="3383280" cy="50292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Callout zone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operating outcome.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bg_capability_flow.png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urity_com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Security Controls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Four control domains with optional proof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822960"/>
          </a:xfrm>
          <a:prstGeom prst="round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77800" tIns="177800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Intro framing zone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2F7FB"/>
                </a:solidFill>
                <a:latin typeface="Segoe UI"/>
              </a:rPr>
              <a:t>One sentence to establish the slide purpose before the cards begin.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73152" cy="8229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01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02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03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01784" y="2514600"/>
            <a:ext cx="25146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Card 04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Kicker + title + one short proof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bg_security_command.png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eliability_contin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Reliability / Continuity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Sequence band plus proof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083564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Recovery sequence band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headline flow: detect -&gt; route -&gt; failover -&gt; validate -&gt; recover.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6766560" cy="17373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Continuity proof zone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continuity posture, measured recovery objectives, or incident operating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971800"/>
            <a:ext cx="3794760" cy="17373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Metric / proof card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RTO, RPO, failover proof, or a single operational measure.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83480"/>
            <a:ext cx="10835640" cy="6400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Footer bridge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one-line continuity takeaway.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bg_reliability_continuity.png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igration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Migration Program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Phased rollout with gates and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822960"/>
          </a:xfrm>
          <a:prstGeom prst="round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77800" tIns="177800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Lead-in zone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2F7FB"/>
                </a:solidFill>
                <a:latin typeface="Segoe UI"/>
              </a:rPr>
              <a:t>Use this for the conclusion headline or the stage-setting sentence above the phases.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73152" cy="8229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34290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Stage 1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left-side starting point or earliest phase.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560320"/>
            <a:ext cx="34290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Stage 2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transition state, pilot state, or growth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560320"/>
            <a:ext cx="3429000" cy="26517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Stage 3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target state, scale state, or managed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bg_migration_program.png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peratin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Operating Model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Three ownership zones with a shared footer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66160" cy="283464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Keycentrix owns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platform operations, monitoring, patching, or DR accountability.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283464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Customer owns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policy, governance, local process, or site-level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828800"/>
            <a:ext cx="3566160" cy="283464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Shared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governance cadence, incident coordination, and readiness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Recommended use: keep each ownership zone to a short title and one concise supporting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bg_operating_model.png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usiness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Value Realization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Four value drivers with measured takeaway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64240" cy="777240"/>
          </a:xfrm>
          <a:prstGeom prst="round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77800" tIns="177800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Value framing zone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2F7FB"/>
                </a:solidFill>
                <a:latin typeface="Segoe UI"/>
              </a:rPr>
              <a:t>Use for the causal statement: architecture choice -&gt; operating effect -&gt; measurable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73152" cy="7772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395728"/>
            <a:ext cx="2468880" cy="16002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Driver 1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Maintenance or labor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2395728"/>
            <a:ext cx="2468880" cy="16002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Driver 2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Refresh or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2395728"/>
            <a:ext cx="2468880" cy="16002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Driver 3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Licensing or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395728"/>
            <a:ext cx="2468880" cy="16002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Driver 4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Downtime or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51960"/>
            <a:ext cx="5120640" cy="11430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Measurement section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assumptions, KPI ranges, or time-to-value proof.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6752" y="4251960"/>
            <a:ext cx="4681728" cy="11430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Decision takeaway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closing economic bridge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bg_business_value.png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cis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Decision Path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Call-to-action with execution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6675120" cy="29718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Decision request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primary ask and a 3-4 step execution sequence.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3657600" cy="24688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Success looks like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3-4 conditions that define a good pilot or approval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bg_decision_path.png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ppendix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Appendix / Market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Appendix card grid for battle cards or due diligence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474720" cy="15544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Appendix card A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market context, assumptions, or objection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83080"/>
            <a:ext cx="3474720" cy="15544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Appendix card B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proof assets, diligence, or technology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83080"/>
            <a:ext cx="3474720" cy="15544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Appendix card C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battle cards, pricing assumptions, or backup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57600"/>
            <a:ext cx="5212080" cy="17830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Large appendix panel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a longer comparison, due diligence notes, or objection pivot.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657600"/>
            <a:ext cx="5394960" cy="17830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Proof / evidence panel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supporting artifacts or a response framework.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bg_appendix_market.png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odern_pharmacy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Alternate Hero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Cleaner cloud-forward title or transition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6400800" cy="34290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Hero story panel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kicker, conclusion headline, and two or three short supporting bullets.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920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9488" y="1920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063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3063240"/>
            <a:ext cx="182880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Stat /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one short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bg_modern_pharmacy_cloud.png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eliability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Alternate Reliability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Resilience-forward continuity or incident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0835640" cy="8686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Recovery sequence band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headline flow: detect -&gt; route -&gt; failover -&gt; validate -&gt; recover.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6766560" cy="17373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Continuity proof zone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continuity posture, measured recovery objectives, or incident operating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971800"/>
            <a:ext cx="3794760" cy="173736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Metric / proof card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RTO, RPO, failover proof, or a single operational measure.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83480"/>
            <a:ext cx="10835640" cy="64008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Footer bridge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one-line continuity takeaway.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bg_reliability_resilience.png | Recommended use: duplicate this slide and replace placeholder labels only.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urity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ick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46304"/>
            <a:ext cx="2057400" cy="356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46304"/>
            <a:ext cx="8046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Alternate Security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D8F5FF"/>
                </a:solidFill>
                <a:latin typeface="Segoe UI"/>
              </a:rPr>
              <a:t>Shield-led security or trust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840480" cy="274320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Security headline panel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the trust statement, one short summary, and a 2-3 line explanation.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8032" y="1965960"/>
            <a:ext cx="1965960" cy="123444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2EB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Identity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Access, MFA,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1965960"/>
            <a:ext cx="1965960" cy="123444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D6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Network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Ingress, private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7152" y="1965960"/>
            <a:ext cx="1965960" cy="123444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6B5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Data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Encryption,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3566160"/>
            <a:ext cx="4526280" cy="1234440"/>
          </a:xfrm>
          <a:prstGeom prst="roundRect">
            <a:avLst/>
          </a:prstGeom>
          <a:solidFill>
            <a:srgbClr val="1E5A96"/>
          </a:solidFill>
          <a:ln w="1651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5240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Runtime / audit proof</a:t>
            </a:r>
          </a:p>
          <a:p>
            <a:r>
              <a:rPr sz="1000" b="0">
                <a:solidFill>
                  <a:srgbClr val="F2F7FB"/>
                </a:solidFill>
                <a:latin typeface="Segoe UI"/>
              </a:rPr>
              <a:t>Use for scanning, observability, logging, or runtime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D8F5FF"/>
                </a:solidFill>
                <a:latin typeface="Segoe UI"/>
              </a:rPr>
              <a:t>Background asset: bg_security_shield.png | Recommended use: duplicate this slide and replace placeholder labels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